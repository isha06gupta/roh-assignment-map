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69" r:id="rId4"/>
    <p:sldId id="265" r:id="rId5"/>
    <p:sldId id="266" r:id="rId6"/>
    <p:sldId id="268" r:id="rId7"/>
    <p:sldId id="270" r:id="rId8"/>
    <p:sldId id="271" r:id="rId9"/>
    <p:sldId id="272" r:id="rId10"/>
    <p:sldId id="273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2/9/2024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876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85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472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50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7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54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0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2/9/2024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89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6578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7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45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84" r:id="rId5"/>
    <p:sldLayoutId id="2147483690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2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8DE9B99-ADEF-4DA4-A716-52D0A8BE5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E20860D-8992-496E-BC22-8450E344B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065FAA58-0EDC-412F-A5F8-01968BE60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8089CB0-2F03-4E3C-ADBB-570A3BE78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081" y="0"/>
            <a:ext cx="551077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DBA80B1-3B69-49C0-8AC9-716ABA57F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rgbClr val="D9D9D9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47E1103-B264-49BE-BC2A-F4E40BD3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solidFill>
            <a:schemeClr val="bg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30FAB3-0898-7F71-BFF3-86754F285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887" y="1185059"/>
            <a:ext cx="3491832" cy="44878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cap="none" spc="0"/>
              <a:t>ROH / POH LOAD BALANCING OF WORKSHOP 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2DA11B6-B538-4624-9628-98B823D76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939" y="276008"/>
            <a:ext cx="6146615" cy="6305984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FB1CB5B-67A5-45DB-B8E1-7A09A642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25455" y="438912"/>
            <a:ext cx="5815584" cy="598017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C99476-0C54-8C03-B4E0-9252B3C7F438}"/>
              </a:ext>
            </a:extLst>
          </p:cNvPr>
          <p:cNvSpPr txBox="1"/>
          <p:nvPr/>
        </p:nvSpPr>
        <p:spPr>
          <a:xfrm>
            <a:off x="6403656" y="936416"/>
            <a:ext cx="4870512" cy="4985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tool which solves the problem of imbalance assignment of wagons due for ROH or POH using optimization algorithm</a:t>
            </a:r>
          </a:p>
        </p:txBody>
      </p:sp>
    </p:spTree>
    <p:extLst>
      <p:ext uri="{BB962C8B-B14F-4D97-AF65-F5344CB8AC3E}">
        <p14:creationId xmlns:p14="http://schemas.microsoft.com/office/powerpoint/2010/main" val="240151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120F84-A866-4D9F-8B1C-9120A013D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52FEFEF-6AC0-46B6-AC09-11FC56196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7F9E19-B0FB-4ECE-1F90-4D3279640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511" y="568128"/>
            <a:ext cx="9792208" cy="152707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assignment strategy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82FC1-CCFE-581F-0EA5-983B197C0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898" y="2272623"/>
            <a:ext cx="9934821" cy="3524169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experience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information available to managers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some cases, to default workshops or depos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1894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509FB-BF13-EC82-8829-DB295253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DFA5CF5-D6A0-5802-C733-0818B344F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9BACFF2-32B5-9263-B3B9-5FE0215BA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71604-A363-20D5-549A-B7DAD24A7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409" y="1638721"/>
            <a:ext cx="7536713" cy="327317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of workshop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499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A45AF-8292-BF8B-DC23-AF24FC65A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1E0B6A0-3598-7F69-3613-42BC41270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A6408E-6D54-0498-6EBA-E61FA1F53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556CA-1DE8-28A0-044E-50988B964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008" y="1526002"/>
            <a:ext cx="9934821" cy="3524169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lvl="1"/>
            <a:endParaRPr lang="en-IN" dirty="0"/>
          </a:p>
        </p:txBody>
      </p:sp>
      <p:pic>
        <p:nvPicPr>
          <p:cNvPr id="6" name="Picture 5" descr="A graph of a workshop&#10;&#10;Description automatically generated with medium confidence">
            <a:extLst>
              <a:ext uri="{FF2B5EF4-FFF2-40B4-BE49-F238E27FC236}">
                <a16:creationId xmlns:a16="http://schemas.microsoft.com/office/drawing/2014/main" id="{B622C380-CF5B-C816-F07B-1204117596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589" y="1279050"/>
            <a:ext cx="9934821" cy="53301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634D18-F8C5-306C-1C76-6622484E945B}"/>
              </a:ext>
            </a:extLst>
          </p:cNvPr>
          <p:cNvSpPr txBox="1"/>
          <p:nvPr/>
        </p:nvSpPr>
        <p:spPr>
          <a:xfrm>
            <a:off x="2332653" y="295658"/>
            <a:ext cx="6951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out-turn of workshop in 6 months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452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E9C38E-CCC3-D6B1-A1AB-DFC75D67E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4633A6-03F0-2030-04D1-6D4A99678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6FFC6EA-531E-0EA1-0F51-E5B63934C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89B0E-EEF6-CF13-4109-E86854909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008" y="1526002"/>
            <a:ext cx="9934821" cy="3524169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lvl="1"/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C2FC5B-6747-ED86-7912-DDEBCA404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849" y="1414462"/>
            <a:ext cx="8416212" cy="48117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806C97-48FD-01B1-7F6E-92B3F29E084E}"/>
              </a:ext>
            </a:extLst>
          </p:cNvPr>
          <p:cNvSpPr txBox="1"/>
          <p:nvPr/>
        </p:nvSpPr>
        <p:spPr>
          <a:xfrm>
            <a:off x="2323322" y="508299"/>
            <a:ext cx="6951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out-turn of workshop in 6 months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131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A2A2E-B0D1-580B-DE9C-2320E2D8C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F2A6EC9-BDA4-F98D-BB67-2FBBD7862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490D677-D04C-C418-4C5B-88A6B3106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7E0B5-4423-9083-2A50-D68026FEC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008" y="1526002"/>
            <a:ext cx="9934821" cy="3524169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1F4FA7-CEBB-ECB9-B600-F4C32D5C5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921" y="1091682"/>
            <a:ext cx="9557908" cy="485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285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6C0F0-8B44-2D27-8C56-C4524C60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781B3FD-FFBD-0D6C-E82E-05BC8F196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E605C8E-F085-9CE4-5285-76C396EB3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6BE67-59A1-0128-2662-83C284291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008" y="1526002"/>
            <a:ext cx="9934821" cy="3524169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lvl="1"/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5CC289-F9F3-1CC4-FF73-A5784595C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988" y="486240"/>
            <a:ext cx="10294376" cy="549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61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62800-97FE-D25D-F7C5-5C8F1514A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66ADD3-C847-DFD6-0A49-6AC94AC33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BC20A8-8FF6-6264-A0B8-0CB5A0AE4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8EB4D-D4DE-2F7B-622A-E5B33C084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008" y="1526002"/>
            <a:ext cx="9934821" cy="3524169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lvl="1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1CB9B8-0A91-BEFB-7141-D43BFCBA9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82" y="905069"/>
            <a:ext cx="10027059" cy="503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570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21F5B-ECA5-8545-591E-0B01476A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1ACFA28-E275-82C4-F34A-9DC6A46A5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4F3A77-9FE9-3D52-6A12-220929090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5765F-A7BE-9474-498C-B812BFF53201}"/>
              </a:ext>
            </a:extLst>
          </p:cNvPr>
          <p:cNvSpPr txBox="1"/>
          <p:nvPr/>
        </p:nvSpPr>
        <p:spPr>
          <a:xfrm>
            <a:off x="3048778" y="32443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20C82E-3F6C-0516-458A-0F67746F5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961" y="796732"/>
            <a:ext cx="8354806" cy="498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910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822BA-25F1-CAE9-EC86-C70978A6A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2D5AB2D-1C6A-8122-FEBF-359E6B3A6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A35C98A-8233-5714-080A-B5AAD40AA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76EC2-723C-4431-711D-81F933A1A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008" y="1526002"/>
            <a:ext cx="9934821" cy="3524169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lvl="1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483F40-4A7B-A892-EBC2-AEB37FD1E9AD}"/>
              </a:ext>
            </a:extLst>
          </p:cNvPr>
          <p:cNvSpPr txBox="1"/>
          <p:nvPr/>
        </p:nvSpPr>
        <p:spPr>
          <a:xfrm>
            <a:off x="3048778" y="32443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A0478E-523F-C729-F44A-2C3EEBAF1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420" y="1024538"/>
            <a:ext cx="7800392" cy="478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750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054F7-3FBC-518E-9696-92BE7EBC6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0E31DE8-944F-68D6-89AF-B6C030E73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28BFB1B-FB57-333A-F5E8-DE9BF5398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8F8FF-5080-3097-3C91-5719B886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511" y="568128"/>
            <a:ext cx="9792208" cy="152707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current strategy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FB954-11FB-2640-5F1C-8D5D39EFE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898" y="2272623"/>
            <a:ext cx="9934821" cy="3524169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in imbalance assignment of wagons to workshop which leads to: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workshop becomes overloaded and other remain idle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waiting increases of wagons assigned to workshop or depos with excessive workload.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Underutilization of resources in workshop or depos which are idle.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 turn impact the freight operations.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172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5CF36-4894-3C7E-5BBF-8E1F96E5A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E58A372-A3B9-2677-1A1C-8F87DD328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B638D8D-FA3A-9BD1-ADB5-2C536714B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366E73-9E5E-21FA-3538-D0A688F94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872" y="568128"/>
            <a:ext cx="9792208" cy="152707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3989E-16A7-CD34-86CD-733D29E63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72" y="1903508"/>
            <a:ext cx="9965069" cy="347383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assignment plan for next 10 days for wagons due for ROH or POH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an optimal assignment plan for wagons due or will be going to due in next 30 days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workshop/depo to Yard while the wagon is being nominated for schedule repair (ROH/POH)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Suggest which wagons should not be sent to particular location,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 reasons may be;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agon will be due for ROH/POH on reaching destination, the maintenance location is too far from that location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give facility to prioritize certain wagons in case of requirement.</a:t>
            </a:r>
          </a:p>
        </p:txBody>
      </p:sp>
    </p:spTree>
    <p:extLst>
      <p:ext uri="{BB962C8B-B14F-4D97-AF65-F5344CB8AC3E}">
        <p14:creationId xmlns:p14="http://schemas.microsoft.com/office/powerpoint/2010/main" val="2407340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ABB28-0F81-69F5-7A65-E9EB63F52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0C4F7A-B5B1-2AE7-DF9F-4E1F46AAE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E81B4CE-9F99-1AF1-E863-414C10567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411D3D-811D-9128-C632-7C73816B5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872" y="568128"/>
            <a:ext cx="9792208" cy="152707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parameters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863E2-7232-9680-FF0A-621037055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72" y="1903508"/>
            <a:ext cx="9965069" cy="3473836"/>
          </a:xfrm>
        </p:spPr>
        <p:txBody>
          <a:bodyPr>
            <a:normAutofit/>
          </a:bodyPr>
          <a:lstStyle/>
          <a:p>
            <a:pPr algn="just" rtl="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Travel time of wagons/rake from current location to workshop/ROH Depot.</a:t>
            </a:r>
          </a:p>
          <a:p>
            <a:pPr algn="just" rtl="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of the wagon from the date it became overdue.</a:t>
            </a:r>
          </a:p>
          <a:p>
            <a:pPr algn="just" rtl="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Congestion or waiting time in yards associated with workshop or depos considered.</a:t>
            </a:r>
          </a:p>
        </p:txBody>
      </p:sp>
    </p:spTree>
    <p:extLst>
      <p:ext uri="{BB962C8B-B14F-4D97-AF65-F5344CB8AC3E}">
        <p14:creationId xmlns:p14="http://schemas.microsoft.com/office/powerpoint/2010/main" val="3708026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D5AF4-7B94-60D7-C2B2-82535958C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04316FE-CE9C-0E72-B2D3-49E85A809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EAB9DF0-9CF6-7712-ADA5-6B552C900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541A5-F9B6-2A64-586B-3F4D2F8CC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872" y="568128"/>
            <a:ext cx="9792208" cy="152707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required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AEB1B-CADB-C212-857A-155E20828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72" y="1903508"/>
            <a:ext cx="9965069" cy="3473836"/>
          </a:xfrm>
        </p:spPr>
        <p:txBody>
          <a:bodyPr>
            <a:normAutofit/>
          </a:bodyPr>
          <a:lstStyle/>
          <a:p>
            <a:pPr algn="just" rtl="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to define capacity of the workshop or depos ??</a:t>
            </a:r>
          </a:p>
          <a:p>
            <a:pPr algn="just" rtl="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data required to define which workshop or depo can handle which type of wagon.</a:t>
            </a:r>
          </a:p>
          <a:p>
            <a:pPr algn="just" rtl="0" fontAlgn="base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Parameters which can be given as user input.</a:t>
            </a:r>
          </a:p>
        </p:txBody>
      </p:sp>
    </p:spTree>
    <p:extLst>
      <p:ext uri="{BB962C8B-B14F-4D97-AF65-F5344CB8AC3E}">
        <p14:creationId xmlns:p14="http://schemas.microsoft.com/office/powerpoint/2010/main" val="2653942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36A55B-0A08-199A-F6DD-321AB273A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8A39959-5F92-5B4E-CD22-6772BBD7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F80A4EC-AC0C-58EC-780A-928CCFF3C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6B7C8F-7D4A-DEC1-891D-C74290AB0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86" y="2480818"/>
            <a:ext cx="9792208" cy="1527078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2301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Century School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309</Words>
  <Application>Microsoft Office PowerPoint</Application>
  <PresentationFormat>Widescreen</PresentationFormat>
  <Paragraphs>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Century Schoolbook</vt:lpstr>
      <vt:lpstr>Courier New</vt:lpstr>
      <vt:lpstr>Franklin Gothic Book</vt:lpstr>
      <vt:lpstr>Garamond</vt:lpstr>
      <vt:lpstr>Times New Roman</vt:lpstr>
      <vt:lpstr>Wingdings</vt:lpstr>
      <vt:lpstr>SavonVTI</vt:lpstr>
      <vt:lpstr>ROH / POH LOAD BALANCING OF WORKSHOP </vt:lpstr>
      <vt:lpstr>Current assignment strategy</vt:lpstr>
      <vt:lpstr>Exploratory data analysis of workshop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Drawbacks of current strategy</vt:lpstr>
      <vt:lpstr>Our solution</vt:lpstr>
      <vt:lpstr>Critical parameters </vt:lpstr>
      <vt:lpstr>Inputs required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ROH / POH LOAD BALANCING OF WORKSHOP </dc:title>
  <dc:creator>Rajnish Kumar</dc:creator>
  <cp:lastModifiedBy>Rajnish Kumar</cp:lastModifiedBy>
  <cp:revision>3</cp:revision>
  <dcterms:created xsi:type="dcterms:W3CDTF">2024-02-09T05:58:43Z</dcterms:created>
  <dcterms:modified xsi:type="dcterms:W3CDTF">2024-02-09T09:33:30Z</dcterms:modified>
</cp:coreProperties>
</file>